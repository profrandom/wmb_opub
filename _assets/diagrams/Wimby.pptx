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0058400" cy="15544800"/>
  <p:notesSz cx="6858000" cy="9144000"/>
  <p:embeddedFontLst>
    <p:embeddedFont>
      <p:font typeface="The Seasons" pitchFamily="2" charset="77"/>
      <p:regular r:id="rId3"/>
    </p:embeddedFont>
    <p:embeddedFont>
      <p:font typeface="The Seasons Bold" pitchFamily="2" charset="77"/>
      <p:regular r:id="rId4"/>
      <p:bold r:id="rId5"/>
    </p:embeddedFont>
    <p:embeddedFont>
      <p:font typeface="The Seasons Italics" pitchFamily="2" charset="77"/>
      <p:regular r:id="rId6"/>
      <p:italic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558" autoAdjust="0"/>
  </p:normalViewPr>
  <p:slideViewPr>
    <p:cSldViewPr>
      <p:cViewPr varScale="1">
        <p:scale>
          <a:sx n="53" d="100"/>
          <a:sy n="53" d="100"/>
        </p:scale>
        <p:origin x="3712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tableStyles" Target="tableStyles.xml"/><Relationship Id="rId5" Type="http://schemas.openxmlformats.org/officeDocument/2006/relationships/font" Target="fonts/font3.fntdata"/><Relationship Id="rId10" Type="http://schemas.openxmlformats.org/officeDocument/2006/relationships/theme" Target="theme/theme1.xml"/><Relationship Id="rId4" Type="http://schemas.openxmlformats.org/officeDocument/2006/relationships/font" Target="fonts/font2.fntdata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9874" y="2705118"/>
            <a:ext cx="9458651" cy="945865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2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25579" y="2988063"/>
            <a:ext cx="8783631" cy="8783631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2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5400000">
            <a:off x="5882968" y="1219834"/>
            <a:ext cx="3009985" cy="4741131"/>
            <a:chOff x="0" y="0"/>
            <a:chExt cx="278531" cy="43872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78531" cy="438724"/>
            </a:xfrm>
            <a:custGeom>
              <a:avLst/>
              <a:gdLst/>
              <a:ahLst/>
              <a:cxnLst/>
              <a:rect l="l" t="t" r="r" b="b"/>
              <a:pathLst>
                <a:path w="278531" h="438724">
                  <a:moveTo>
                    <a:pt x="0" y="0"/>
                  </a:moveTo>
                  <a:lnTo>
                    <a:pt x="278531" y="0"/>
                  </a:lnTo>
                  <a:lnTo>
                    <a:pt x="278531" y="438724"/>
                  </a:lnTo>
                  <a:lnTo>
                    <a:pt x="0" y="4387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278531" cy="4577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26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-5400000">
            <a:off x="921785" y="8634368"/>
            <a:ext cx="3473699" cy="4717521"/>
            <a:chOff x="0" y="0"/>
            <a:chExt cx="321441" cy="43653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21441" cy="436539"/>
            </a:xfrm>
            <a:custGeom>
              <a:avLst/>
              <a:gdLst/>
              <a:ahLst/>
              <a:cxnLst/>
              <a:rect l="l" t="t" r="r" b="b"/>
              <a:pathLst>
                <a:path w="321441" h="436539">
                  <a:moveTo>
                    <a:pt x="0" y="0"/>
                  </a:moveTo>
                  <a:lnTo>
                    <a:pt x="321441" y="0"/>
                  </a:lnTo>
                  <a:lnTo>
                    <a:pt x="321441" y="436539"/>
                  </a:lnTo>
                  <a:lnTo>
                    <a:pt x="0" y="43653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321441" cy="4555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260"/>
                </a:lnSpc>
              </a:pPr>
              <a:endParaRPr/>
            </a:p>
          </p:txBody>
        </p:sp>
      </p:grpSp>
      <p:sp>
        <p:nvSpPr>
          <p:cNvPr id="14" name="AutoShape 14"/>
          <p:cNvSpPr/>
          <p:nvPr/>
        </p:nvSpPr>
        <p:spPr>
          <a:xfrm>
            <a:off x="2981558" y="11748591"/>
            <a:ext cx="2047642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AutoShape 15"/>
          <p:cNvSpPr/>
          <p:nvPr/>
        </p:nvSpPr>
        <p:spPr>
          <a:xfrm>
            <a:off x="4990398" y="3011165"/>
            <a:ext cx="2047642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6735904" y="2590165"/>
            <a:ext cx="842000" cy="842000"/>
          </a:xfrm>
          <a:custGeom>
            <a:avLst/>
            <a:gdLst/>
            <a:ahLst/>
            <a:cxnLst/>
            <a:rect l="l" t="t" r="r" b="b"/>
            <a:pathLst>
              <a:path w="842000" h="842000">
                <a:moveTo>
                  <a:pt x="0" y="0"/>
                </a:moveTo>
                <a:lnTo>
                  <a:pt x="842000" y="0"/>
                </a:lnTo>
                <a:lnTo>
                  <a:pt x="842000" y="842000"/>
                </a:lnTo>
                <a:lnTo>
                  <a:pt x="0" y="84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2560558" y="11327591"/>
            <a:ext cx="842000" cy="842000"/>
          </a:xfrm>
          <a:custGeom>
            <a:avLst/>
            <a:gdLst/>
            <a:ahLst/>
            <a:cxnLst/>
            <a:rect l="l" t="t" r="r" b="b"/>
            <a:pathLst>
              <a:path w="842000" h="842000">
                <a:moveTo>
                  <a:pt x="0" y="0"/>
                </a:moveTo>
                <a:lnTo>
                  <a:pt x="842000" y="0"/>
                </a:lnTo>
                <a:lnTo>
                  <a:pt x="842000" y="842000"/>
                </a:lnTo>
                <a:lnTo>
                  <a:pt x="0" y="84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 flipH="1">
            <a:off x="1005840" y="6735686"/>
            <a:ext cx="830904" cy="779539"/>
          </a:xfrm>
          <a:custGeom>
            <a:avLst/>
            <a:gdLst/>
            <a:ahLst/>
            <a:cxnLst/>
            <a:rect l="l" t="t" r="r" b="b"/>
            <a:pathLst>
              <a:path w="830904" h="779539">
                <a:moveTo>
                  <a:pt x="830904" y="0"/>
                </a:moveTo>
                <a:lnTo>
                  <a:pt x="0" y="0"/>
                </a:lnTo>
                <a:lnTo>
                  <a:pt x="0" y="779539"/>
                </a:lnTo>
                <a:lnTo>
                  <a:pt x="830904" y="779539"/>
                </a:lnTo>
                <a:lnTo>
                  <a:pt x="83090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9" name="Group 19"/>
          <p:cNvGrpSpPr/>
          <p:nvPr/>
        </p:nvGrpSpPr>
        <p:grpSpPr>
          <a:xfrm>
            <a:off x="4324587" y="4318899"/>
            <a:ext cx="1385616" cy="353963"/>
            <a:chOff x="0" y="0"/>
            <a:chExt cx="1847488" cy="471951"/>
          </a:xfrm>
        </p:grpSpPr>
        <p:sp>
          <p:nvSpPr>
            <p:cNvPr id="20" name="Freeform 20"/>
            <p:cNvSpPr/>
            <p:nvPr/>
          </p:nvSpPr>
          <p:spPr>
            <a:xfrm>
              <a:off x="687577" y="0"/>
              <a:ext cx="471951" cy="471951"/>
            </a:xfrm>
            <a:custGeom>
              <a:avLst/>
              <a:gdLst/>
              <a:ahLst/>
              <a:cxnLst/>
              <a:rect l="l" t="t" r="r" b="b"/>
              <a:pathLst>
                <a:path w="471951" h="471951">
                  <a:moveTo>
                    <a:pt x="0" y="0"/>
                  </a:moveTo>
                  <a:lnTo>
                    <a:pt x="471950" y="0"/>
                  </a:lnTo>
                  <a:lnTo>
                    <a:pt x="471950" y="471951"/>
                  </a:lnTo>
                  <a:lnTo>
                    <a:pt x="0" y="4719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1375537" y="0"/>
              <a:ext cx="471951" cy="471951"/>
            </a:xfrm>
            <a:custGeom>
              <a:avLst/>
              <a:gdLst/>
              <a:ahLst/>
              <a:cxnLst/>
              <a:rect l="l" t="t" r="r" b="b"/>
              <a:pathLst>
                <a:path w="471951" h="471951">
                  <a:moveTo>
                    <a:pt x="0" y="0"/>
                  </a:moveTo>
                  <a:lnTo>
                    <a:pt x="471951" y="0"/>
                  </a:lnTo>
                  <a:lnTo>
                    <a:pt x="471951" y="471951"/>
                  </a:lnTo>
                  <a:lnTo>
                    <a:pt x="0" y="4719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0" y="0"/>
              <a:ext cx="471951" cy="471951"/>
            </a:xfrm>
            <a:custGeom>
              <a:avLst/>
              <a:gdLst/>
              <a:ahLst/>
              <a:cxnLst/>
              <a:rect l="l" t="t" r="r" b="b"/>
              <a:pathLst>
                <a:path w="471951" h="471951">
                  <a:moveTo>
                    <a:pt x="0" y="0"/>
                  </a:moveTo>
                  <a:lnTo>
                    <a:pt x="471951" y="0"/>
                  </a:lnTo>
                  <a:lnTo>
                    <a:pt x="471951" y="471951"/>
                  </a:lnTo>
                  <a:lnTo>
                    <a:pt x="0" y="4719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348986" y="4587137"/>
            <a:ext cx="7282823" cy="2136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751"/>
              </a:lnSpc>
            </a:pPr>
            <a:r>
              <a:rPr lang="en-US" sz="11250" b="1" dirty="0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WORLD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75983" y="5733567"/>
            <a:ext cx="7282823" cy="2136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751"/>
              </a:lnSpc>
            </a:pPr>
            <a:r>
              <a:rPr lang="en-US" sz="11250" b="1" dirty="0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MAKING</a:t>
            </a:r>
          </a:p>
        </p:txBody>
      </p:sp>
      <p:sp>
        <p:nvSpPr>
          <p:cNvPr id="25" name="Freeform 25"/>
          <p:cNvSpPr/>
          <p:nvPr/>
        </p:nvSpPr>
        <p:spPr>
          <a:xfrm>
            <a:off x="8061723" y="6733043"/>
            <a:ext cx="830904" cy="779539"/>
          </a:xfrm>
          <a:custGeom>
            <a:avLst/>
            <a:gdLst/>
            <a:ahLst/>
            <a:cxnLst/>
            <a:rect l="l" t="t" r="r" b="b"/>
            <a:pathLst>
              <a:path w="830904" h="779539">
                <a:moveTo>
                  <a:pt x="0" y="0"/>
                </a:moveTo>
                <a:lnTo>
                  <a:pt x="830903" y="0"/>
                </a:lnTo>
                <a:lnTo>
                  <a:pt x="830903" y="779538"/>
                </a:lnTo>
                <a:lnTo>
                  <a:pt x="0" y="7795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TextBox 26"/>
          <p:cNvSpPr txBox="1"/>
          <p:nvPr/>
        </p:nvSpPr>
        <p:spPr>
          <a:xfrm>
            <a:off x="1348986" y="8645099"/>
            <a:ext cx="7282823" cy="871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10"/>
              </a:lnSpc>
            </a:pPr>
            <a:r>
              <a:rPr lang="en-US" sz="2507">
                <a:solidFill>
                  <a:srgbClr val="000000"/>
                </a:solidFill>
                <a:latin typeface="The Seasons"/>
                <a:ea typeface="The Seasons"/>
                <a:cs typeface="The Seasons"/>
                <a:sym typeface="The Seasons"/>
              </a:rPr>
              <a:t>A Science-Adjacent Exploration of</a:t>
            </a:r>
          </a:p>
          <a:p>
            <a:pPr algn="ctr">
              <a:lnSpc>
                <a:spcPts val="3510"/>
              </a:lnSpc>
            </a:pPr>
            <a:r>
              <a:rPr lang="en-US" sz="2507">
                <a:solidFill>
                  <a:srgbClr val="000000"/>
                </a:solidFill>
                <a:latin typeface="The Seasons"/>
                <a:ea typeface="The Seasons"/>
                <a:cs typeface="The Seasons"/>
                <a:sym typeface="The Seasons"/>
              </a:rPr>
              <a:t>Designing Stars, Planets, and Stellar-Systems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343670" y="3587360"/>
            <a:ext cx="3293456" cy="379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31"/>
              </a:lnSpc>
            </a:pPr>
            <a:r>
              <a:rPr lang="en-US" sz="2022" i="1">
                <a:solidFill>
                  <a:srgbClr val="000000"/>
                </a:solidFill>
                <a:latin typeface="The Seasons Italics"/>
                <a:ea typeface="The Seasons Italics"/>
                <a:cs typeface="The Seasons Italics"/>
                <a:sym typeface="The Seasons Italics"/>
              </a:rPr>
              <a:t>Mundus Tuum Est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48986" y="7639050"/>
            <a:ext cx="7282823" cy="832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92"/>
              </a:lnSpc>
            </a:pPr>
            <a:r>
              <a:rPr lang="en-US" sz="4351" b="1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Crafting And Building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3672570" y="9918430"/>
            <a:ext cx="2635655" cy="956602"/>
            <a:chOff x="0" y="0"/>
            <a:chExt cx="3514206" cy="1275469"/>
          </a:xfrm>
        </p:grpSpPr>
        <p:grpSp>
          <p:nvGrpSpPr>
            <p:cNvPr id="30" name="Group 30"/>
            <p:cNvGrpSpPr/>
            <p:nvPr/>
          </p:nvGrpSpPr>
          <p:grpSpPr>
            <a:xfrm>
              <a:off x="0" y="583690"/>
              <a:ext cx="3514206" cy="691778"/>
              <a:chOff x="0" y="0"/>
              <a:chExt cx="1363141" cy="268337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1363141" cy="268337"/>
              </a:xfrm>
              <a:custGeom>
                <a:avLst/>
                <a:gdLst/>
                <a:ahLst/>
                <a:cxnLst/>
                <a:rect l="l" t="t" r="r" b="b"/>
                <a:pathLst>
                  <a:path w="1363141" h="268337">
                    <a:moveTo>
                      <a:pt x="1363141" y="134168"/>
                    </a:moveTo>
                    <a:cubicBezTo>
                      <a:pt x="1148427" y="120388"/>
                      <a:pt x="980332" y="67545"/>
                      <a:pt x="936552" y="0"/>
                    </a:cubicBezTo>
                    <a:cubicBezTo>
                      <a:pt x="905411" y="48140"/>
                      <a:pt x="810960" y="88810"/>
                      <a:pt x="681571" y="113219"/>
                    </a:cubicBezTo>
                    <a:cubicBezTo>
                      <a:pt x="552181" y="88810"/>
                      <a:pt x="457730" y="48203"/>
                      <a:pt x="426589" y="0"/>
                    </a:cubicBezTo>
                    <a:cubicBezTo>
                      <a:pt x="382810" y="67545"/>
                      <a:pt x="214715" y="120388"/>
                      <a:pt x="0" y="134168"/>
                    </a:cubicBezTo>
                    <a:cubicBezTo>
                      <a:pt x="214715" y="147949"/>
                      <a:pt x="382810" y="200792"/>
                      <a:pt x="426589" y="268337"/>
                    </a:cubicBezTo>
                    <a:cubicBezTo>
                      <a:pt x="457730" y="220197"/>
                      <a:pt x="552181" y="179527"/>
                      <a:pt x="681571" y="155118"/>
                    </a:cubicBezTo>
                    <a:cubicBezTo>
                      <a:pt x="810960" y="179527"/>
                      <a:pt x="905411" y="220134"/>
                      <a:pt x="936552" y="268337"/>
                    </a:cubicBezTo>
                    <a:cubicBezTo>
                      <a:pt x="980332" y="200792"/>
                      <a:pt x="1148427" y="147949"/>
                      <a:pt x="1363141" y="134168"/>
                    </a:cubicBezTo>
                    <a:close/>
                  </a:path>
                </a:pathLst>
              </a:custGeom>
              <a:solidFill>
                <a:srgbClr val="000000"/>
              </a:solidFill>
              <a:ln w="47625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48706" y="-32058"/>
                <a:ext cx="1065729" cy="24672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510"/>
                  </a:lnSpc>
                </a:pPr>
                <a:endParaRPr/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1374736" y="0"/>
              <a:ext cx="764734" cy="764734"/>
              <a:chOff x="0" y="0"/>
              <a:chExt cx="812800" cy="8128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lnTo>
                      <a:pt x="535715" y="277085"/>
                    </a:lnTo>
                    <a:lnTo>
                      <a:pt x="812800" y="406400"/>
                    </a:lnTo>
                    <a:lnTo>
                      <a:pt x="535715" y="535715"/>
                    </a:lnTo>
                    <a:lnTo>
                      <a:pt x="406400" y="812800"/>
                    </a:lnTo>
                    <a:lnTo>
                      <a:pt x="277085" y="535715"/>
                    </a:lnTo>
                    <a:lnTo>
                      <a:pt x="0" y="406400"/>
                    </a:lnTo>
                    <a:lnTo>
                      <a:pt x="277085" y="277085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/>
              </a:solidFill>
              <a:ln w="47625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190500" y="104775"/>
                <a:ext cx="431800" cy="5175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510"/>
                  </a:lnSpc>
                </a:pPr>
                <a:endParaRPr/>
              </a:p>
            </p:txBody>
          </p:sp>
        </p:grpSp>
      </p:grpSp>
      <p:grpSp>
        <p:nvGrpSpPr>
          <p:cNvPr id="36" name="Group 36"/>
          <p:cNvGrpSpPr/>
          <p:nvPr/>
        </p:nvGrpSpPr>
        <p:grpSpPr>
          <a:xfrm>
            <a:off x="4703622" y="10588256"/>
            <a:ext cx="573551" cy="573551"/>
            <a:chOff x="0" y="0"/>
            <a:chExt cx="812800" cy="8128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90500" y="104775"/>
              <a:ext cx="431800" cy="5175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10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</Words>
  <Application>Microsoft Macintosh PowerPoint</Application>
  <PresentationFormat>Custom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The Seasons Bold</vt:lpstr>
      <vt:lpstr>Arial</vt:lpstr>
      <vt:lpstr>Calibri</vt:lpstr>
      <vt:lpstr>The Seasons</vt:lpstr>
      <vt:lpstr>The Seasons Italics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Wimby</dc:title>
  <cp:lastModifiedBy>Martin Conrad</cp:lastModifiedBy>
  <cp:revision>1</cp:revision>
  <dcterms:created xsi:type="dcterms:W3CDTF">2006-08-16T00:00:00Z</dcterms:created>
  <dcterms:modified xsi:type="dcterms:W3CDTF">2025-12-25T21:39:36Z</dcterms:modified>
  <dc:identifier>DAG8jZFQ2tE</dc:identifier>
</cp:coreProperties>
</file>